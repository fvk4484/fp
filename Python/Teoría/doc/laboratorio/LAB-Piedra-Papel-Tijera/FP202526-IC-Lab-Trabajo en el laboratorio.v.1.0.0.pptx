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5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9.jpeg" ContentType="image/jpeg"/>
  <Override PartName="/ppt/media/image13.png" ContentType="image/png"/>
  <Override PartName="/ppt/media/image10.gif" ContentType="image/gif"/>
  <Override PartName="/ppt/media/image17.gif" ContentType="image/gif"/>
  <Override PartName="/ppt/media/image16.gif" ContentType="image/gif"/>
  <Override PartName="/ppt/media/image15.gif" ContentType="image/gif"/>
  <Override PartName="/ppt/media/image14.gif" ContentType="image/gif"/>
  <Override PartName="/ppt/media/image2.gif" ContentType="image/gif"/>
  <Override PartName="/ppt/media/image11.png" ContentType="image/png"/>
  <Override PartName="/ppt/media/image3.gif" ContentType="image/gif"/>
  <Override PartName="/ppt/media/image7.png" ContentType="image/png"/>
  <Override PartName="/ppt/media/image12.png" ContentType="image/png"/>
  <Override PartName="/ppt/media/image1.gif" ContentType="image/gif"/>
  <Override PartName="/ppt/media/image4.png" ContentType="image/png"/>
  <Override PartName="/ppt/media/image6.gif" ContentType="image/gif"/>
  <Override PartName="/ppt/media/image8.png" ContentType="image/png"/>
  <Override PartName="/ppt/media/image5.gif" ContentType="image/gif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s-ES" sz="4400" spc="-1" strike="noStrike">
                <a:latin typeface="Arial"/>
              </a:rPr>
              <a:t>Pulse para desplazar la diapositiva</a:t>
            </a:r>
            <a:endParaRPr b="0" lang="es-E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ES" sz="2000" spc="-1" strike="noStrike">
                <a:latin typeface="Arial"/>
              </a:rPr>
              <a:t>Pulse para editar el formato de las notas</a:t>
            </a:r>
            <a:endParaRPr b="0" lang="es-ES" sz="20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ES" sz="1400" spc="-1" strike="noStrike">
                <a:latin typeface="Times New Roman"/>
              </a:rPr>
              <a:t>&lt;cabecera&gt;</a:t>
            </a:r>
            <a:endParaRPr b="0" lang="es-ES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s-E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s-ES" sz="1400" spc="-1" strike="noStrike">
                <a:latin typeface="Times New Roman"/>
              </a:rPr>
              <a:t>&lt;fecha/hora&gt;</a:t>
            </a:r>
            <a:endParaRPr b="0" lang="es-ES" sz="1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s-ES" sz="1400" spc="-1" strike="noStrike">
                <a:latin typeface="Times New Roman"/>
              </a:defRPr>
            </a:lvl1pPr>
          </a:lstStyle>
          <a:p>
            <a:r>
              <a:rPr b="0" lang="es-ES" sz="1400" spc="-1" strike="noStrike">
                <a:latin typeface="Times New Roman"/>
              </a:rPr>
              <a:t>&lt;pie de página&gt;</a:t>
            </a:r>
            <a:endParaRPr b="0" lang="es-ES" sz="1400" spc="-1" strike="noStrike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s-E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ECB6968-D669-4E84-A73F-5C19191E4111}" type="slidenum">
              <a:rPr b="0" lang="es-ES" sz="1400" spc="-1" strike="noStrike">
                <a:latin typeface="Times New Roman"/>
              </a:rPr>
              <a:t>&lt;número&gt;</a:t>
            </a:fld>
            <a:endParaRPr b="0" lang="es-E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s-E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77D7231-EB2A-4343-AB46-648A750F1235}" type="slidenum">
              <a:rPr b="0" lang="es-E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s-E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146EEFC-9BA2-49C1-987E-02C8FEDBFEC1}" type="slidenum">
              <a:rPr b="0" lang="es-ES" sz="1200" spc="-1" strike="noStrike">
                <a:latin typeface="Times New Roman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s-ES" sz="2000" spc="-1" strike="noStrike"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s-E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E0C9D35-D072-46A6-989A-7AA0E7555D02}" type="slidenum">
              <a:rPr b="0" lang="es-ES" sz="1200" spc="-1" strike="noStrike">
                <a:latin typeface="Times New Roman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9D82EB-0368-44E4-AC2A-EA40DCEE42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1BF2EBA-462C-4821-B23E-2BCB63C5CB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5AA9C23-E97E-45A7-94F9-27E21DE67D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31701C9-8C60-4D53-B92B-17FB318B55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CA3077-990E-4699-B5ED-D2603F6AD55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25EEE9-5458-494F-B8D1-B03B73612D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1333A7-08EA-44C0-B93C-C7F82C2707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0E9B20-8F5F-4FF2-A6BD-ACEFAE6F67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E4BD288-A5C7-41CA-B440-9F7BDC38BB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EF30EDF-1808-4EA1-AA08-5EBFB6A502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95C8270-9612-4B56-A909-3F57C7AA3B9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3DB6916-939D-4791-9EE3-EAF8C3D2D91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8BEC71C-AFF6-43C8-93D4-ED09D4118B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9AF25B3-8138-46F4-89F9-2DF9D27D22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86428DD-A473-4696-AE63-7B64B79C84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AC2C027-4CAB-4343-B686-9E30CFCEE7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8A02560-A80D-4129-994B-0D473B33E97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F9211FE-AF71-4247-B432-0BC9FCAB56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54ED56A-B3CA-4931-88EC-E0D645AFD6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F7FDA2F-443B-4AC2-867C-25166A3DC5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D1BA8D1-9F07-48E1-8248-9BB79E3D35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BEAFBC3-8294-4EB2-A2A1-9B1FF94EBC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4D6FCF4-41BB-4F4F-A63E-D265776B36A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7EBA790-BFD9-4836-9FAC-0201C971564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pc="-1" strike="noStrike">
                <a:latin typeface="Arial"/>
              </a:rPr>
              <a:t>Pulse para editar </a:t>
            </a:r>
            <a:r>
              <a:rPr b="0" lang="es-ES" sz="1800" spc="-1" strike="noStrike">
                <a:latin typeface="Arial"/>
              </a:rPr>
              <a:t>el formato del </a:t>
            </a:r>
            <a:r>
              <a:rPr b="0" lang="es-ES" sz="1800" spc="-1" strike="noStrike">
                <a:latin typeface="Arial"/>
              </a:rPr>
              <a:t>texto de título</a:t>
            </a:r>
            <a:endParaRPr b="0" lang="es-E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s-E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s-ES" sz="1400" spc="-1" strike="noStrike">
                <a:latin typeface="Times New Roman"/>
              </a:rPr>
              <a:t>&lt;pie de página&gt;</a:t>
            </a:r>
            <a:endParaRPr b="0" lang="es-E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s-E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F5CAE12-7A5A-4C43-A789-F22962A74665}" type="slidenum">
              <a:rPr b="0" lang="es-ES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s-ES" sz="1400" spc="-1" strike="noStrike">
                <a:latin typeface="Times New Roman"/>
              </a:defRPr>
            </a:lvl1pPr>
          </a:lstStyle>
          <a:p>
            <a:r>
              <a:rPr b="0" lang="es-ES" sz="1400" spc="-1" strike="noStrike">
                <a:latin typeface="Times New Roman"/>
              </a:rPr>
              <a:t>&lt;fecha/hora&gt;</a:t>
            </a:r>
            <a:endParaRPr b="0" lang="es-E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latin typeface="Arial"/>
              </a:rPr>
              <a:t>Pulse para editar el formato de texto del </a:t>
            </a:r>
            <a:r>
              <a:rPr b="0" lang="es-ES" sz="3200" spc="-1" strike="noStrike">
                <a:latin typeface="Arial"/>
              </a:rPr>
              <a:t>esquema</a:t>
            </a:r>
            <a:endParaRPr b="0" lang="es-E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latin typeface="Arial"/>
              </a:rPr>
              <a:t>Segundo nivel del esquema</a:t>
            </a:r>
            <a:endParaRPr b="0" lang="es-E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latin typeface="Arial"/>
              </a:rPr>
              <a:t>Tercer nivel del esquema</a:t>
            </a:r>
            <a:endParaRPr b="0" lang="es-E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latin typeface="Arial"/>
              </a:rPr>
              <a:t>Cuarto nivel del esquema</a:t>
            </a:r>
            <a:endParaRPr b="0" lang="es-E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Quinto nivel del esquema</a:t>
            </a:r>
            <a:endParaRPr b="0" lang="es-E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Sexto nivel del esquema</a:t>
            </a:r>
            <a:endParaRPr b="0" lang="es-E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Séptimo nivel del esquema</a:t>
            </a:r>
            <a:endParaRPr b="0" lang="es-E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s-E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s-ES" sz="1400" spc="-1" strike="noStrike">
                <a:latin typeface="Times New Roman"/>
              </a:rPr>
              <a:t>&lt;pie de página&gt;</a:t>
            </a:r>
            <a:endParaRPr b="0" lang="es-ES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s-E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AB710E1-3483-4BC2-AB16-B1099B68552A}" type="slidenum">
              <a:rPr b="0" lang="es-ES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s-ES" sz="1400" spc="-1" strike="noStrike">
                <a:latin typeface="Times New Roman"/>
              </a:defRPr>
            </a:lvl1pPr>
          </a:lstStyle>
          <a:p>
            <a:r>
              <a:rPr b="0" lang="es-ES" sz="1400" spc="-1" strike="noStrike">
                <a:latin typeface="Times New Roman"/>
              </a:rPr>
              <a:t>&lt;fecha/hora&gt;</a:t>
            </a:r>
            <a:endParaRPr b="0" lang="es-E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s-ES" sz="4400" spc="-1" strike="noStrike">
                <a:latin typeface="Arial"/>
              </a:rPr>
              <a:t>Pulse para editar el formato del texto de título</a:t>
            </a:r>
            <a:endParaRPr b="0" lang="es-E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latin typeface="Arial"/>
              </a:rPr>
              <a:t>Pulse para editar el formato de texto del esquema</a:t>
            </a:r>
            <a:endParaRPr b="0" lang="es-E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latin typeface="Arial"/>
              </a:rPr>
              <a:t>Segundo nivel del esquema</a:t>
            </a:r>
            <a:endParaRPr b="0" lang="es-E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latin typeface="Arial"/>
              </a:rPr>
              <a:t>Tercer nivel del esquema</a:t>
            </a:r>
            <a:endParaRPr b="0" lang="es-E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latin typeface="Arial"/>
              </a:rPr>
              <a:t>Cuarto nivel del esquema</a:t>
            </a:r>
            <a:endParaRPr b="0" lang="es-E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Quinto nivel del esquema</a:t>
            </a:r>
            <a:endParaRPr b="0" lang="es-E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Sexto nivel del esquema</a:t>
            </a:r>
            <a:endParaRPr b="0" lang="es-E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Séptimo nivel del esquema</a:t>
            </a:r>
            <a:endParaRPr b="0" lang="es-E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departamento.us.es/lsi/profesorado" TargetMode="External"/><Relationship Id="rId2" Type="http://schemas.openxmlformats.org/officeDocument/2006/relationships/image" Target="../media/image2.gif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gif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gif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jpe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gif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gif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gif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gif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7.gif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Calibri"/>
              </a:rPr>
              <a:t>Fundamentos de Programación</a:t>
            </a:r>
            <a:endParaRPr b="0" lang="es-ES" sz="4400" spc="-1" strike="noStrike"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080" cy="76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s-ES" sz="3200" spc="-1" strike="noStrike">
                <a:solidFill>
                  <a:srgbClr val="8b8b8b"/>
                </a:solidFill>
                <a:latin typeface="Calibri"/>
              </a:rPr>
              <a:t>Prácticas de laboratorio</a:t>
            </a:r>
            <a:endParaRPr b="0" lang="es-ES" sz="3200" spc="-1" strike="noStrike">
              <a:latin typeface="Arial"/>
            </a:endParaRPr>
          </a:p>
        </p:txBody>
      </p:sp>
      <p:pic>
        <p:nvPicPr>
          <p:cNvPr id="90" name="3 Imagen" descr=""/>
          <p:cNvPicPr/>
          <p:nvPr/>
        </p:nvPicPr>
        <p:blipFill>
          <a:blip r:embed="rId1"/>
          <a:stretch/>
        </p:blipFill>
        <p:spPr>
          <a:xfrm>
            <a:off x="3950280" y="913680"/>
            <a:ext cx="1242720" cy="1223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35 CuadroTexto 1"/>
          <p:cNvSpPr/>
          <p:nvPr/>
        </p:nvSpPr>
        <p:spPr>
          <a:xfrm>
            <a:off x="360000" y="2396520"/>
            <a:ext cx="8408880" cy="22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Localización Física:</a:t>
            </a:r>
            <a:endParaRPr b="0" lang="es-E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I0.64 </a:t>
            </a:r>
            <a:endParaRPr b="0" lang="es-ES" sz="28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Localización Virtual</a:t>
            </a:r>
            <a:endParaRPr b="0" lang="es-E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e-mail: jorgarcia@us.es</a:t>
            </a:r>
            <a:endParaRPr b="0" lang="es-E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Web:  </a:t>
            </a:r>
            <a:r>
              <a:rPr b="0" lang="es-ES" sz="2800" spc="-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"/>
              </a:rPr>
              <a:t>https://departamento.us.es/lsi/profesorado</a:t>
            </a: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s-ES" sz="2800" spc="-1" strike="noStrike">
              <a:latin typeface="Arial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619640" y="274680"/>
            <a:ext cx="706644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s-ES" sz="4000" spc="-1" strike="noStrike">
                <a:solidFill>
                  <a:srgbClr val="000000"/>
                </a:solidFill>
                <a:latin typeface="Calibri"/>
              </a:rPr>
              <a:t>Fundamentos de Programación</a:t>
            </a:r>
            <a:br>
              <a:rPr sz="4000"/>
            </a:br>
            <a:r>
              <a:rPr b="0" lang="es-ES" sz="2700" spc="-1" strike="noStrike">
                <a:solidFill>
                  <a:srgbClr val="000000"/>
                </a:solidFill>
                <a:latin typeface="Calibri"/>
              </a:rPr>
              <a:t>Coordenadas</a:t>
            </a:r>
            <a:endParaRPr b="0" lang="es-ES" sz="2700" spc="-1" strike="noStrike">
              <a:latin typeface="Arial"/>
            </a:endParaRPr>
          </a:p>
        </p:txBody>
      </p:sp>
      <p:sp>
        <p:nvSpPr>
          <p:cNvPr id="93" name="CuadroTexto 2"/>
          <p:cNvSpPr/>
          <p:nvPr/>
        </p:nvSpPr>
        <p:spPr>
          <a:xfrm>
            <a:off x="441720" y="1230840"/>
            <a:ext cx="973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E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2025/26</a:t>
            </a:r>
            <a:endParaRPr b="0" lang="es-ES" sz="1800" spc="-1" strike="noStrike">
              <a:latin typeface="Arial"/>
            </a:endParaRPr>
          </a:p>
        </p:txBody>
      </p:sp>
      <p:pic>
        <p:nvPicPr>
          <p:cNvPr id="94" name="3 Imagen 2" descr=""/>
          <p:cNvPicPr/>
          <p:nvPr/>
        </p:nvPicPr>
        <p:blipFill>
          <a:blip r:embed="rId2"/>
          <a:stretch/>
        </p:blipFill>
        <p:spPr>
          <a:xfrm>
            <a:off x="467640" y="362880"/>
            <a:ext cx="863280" cy="849960"/>
          </a:xfrm>
          <a:prstGeom prst="rect">
            <a:avLst/>
          </a:prstGeom>
          <a:ln w="0">
            <a:noFill/>
          </a:ln>
        </p:spPr>
      </p:pic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604080"/>
          </a:xfrm>
          <a:prstGeom prst="rect">
            <a:avLst/>
          </a:prstGeom>
          <a:solidFill>
            <a:srgbClr val="b7dee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s-ES" sz="3200" spc="-1" strike="noStrike">
                <a:solidFill>
                  <a:srgbClr val="000000"/>
                </a:solidFill>
                <a:latin typeface="Calibri"/>
              </a:rPr>
              <a:t>Jorge García Gutiérrez</a:t>
            </a:r>
            <a:endParaRPr b="0" lang="es-E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CB597DB-6D52-403E-8C5A-25EFB4EE1662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604080"/>
          </a:xfrm>
          <a:prstGeom prst="rect">
            <a:avLst/>
          </a:prstGeom>
          <a:solidFill>
            <a:srgbClr val="b7dee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s-ES" sz="3200" spc="-1" strike="noStrike">
                <a:solidFill>
                  <a:srgbClr val="000000"/>
                </a:solidFill>
                <a:latin typeface="Calibri"/>
              </a:rPr>
              <a:t>Jorge García Gutiérrez</a:t>
            </a:r>
            <a:endParaRPr b="0" lang="es-ES" sz="3200" spc="-1" strike="noStrike">
              <a:latin typeface="Arial"/>
            </a:endParaRPr>
          </a:p>
        </p:txBody>
      </p:sp>
      <p:sp>
        <p:nvSpPr>
          <p:cNvPr id="97" name="1 Título 1"/>
          <p:cNvSpPr/>
          <p:nvPr/>
        </p:nvSpPr>
        <p:spPr>
          <a:xfrm>
            <a:off x="1619640" y="341640"/>
            <a:ext cx="706644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s-ES" sz="4000" spc="-1" strike="noStrike">
                <a:solidFill>
                  <a:srgbClr val="000000"/>
                </a:solidFill>
                <a:latin typeface="Calibri"/>
                <a:ea typeface="DejaVu Sans"/>
              </a:rPr>
              <a:t>Fundamentos de Programación</a:t>
            </a:r>
            <a:br>
              <a:rPr sz="4000"/>
            </a:br>
            <a:r>
              <a:rPr b="0" lang="es-ES" sz="2700" spc="-1" strike="noStrike">
                <a:solidFill>
                  <a:srgbClr val="000000"/>
                </a:solidFill>
                <a:latin typeface="Calibri"/>
                <a:ea typeface="DejaVu Sans"/>
              </a:rPr>
              <a:t>Coordenadas</a:t>
            </a:r>
            <a:endParaRPr b="0" lang="es-ES" sz="2700" spc="-1" strike="noStrike">
              <a:latin typeface="Arial"/>
            </a:endParaRPr>
          </a:p>
        </p:txBody>
      </p:sp>
      <p:sp>
        <p:nvSpPr>
          <p:cNvPr id="98" name="CuadroTexto 1"/>
          <p:cNvSpPr/>
          <p:nvPr/>
        </p:nvSpPr>
        <p:spPr>
          <a:xfrm>
            <a:off x="441720" y="1230840"/>
            <a:ext cx="973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E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2025/26</a:t>
            </a:r>
            <a:endParaRPr b="0" lang="es-ES" sz="1800" spc="-1" strike="noStrike">
              <a:latin typeface="Arial"/>
            </a:endParaRPr>
          </a:p>
        </p:txBody>
      </p:sp>
      <p:pic>
        <p:nvPicPr>
          <p:cNvPr id="99" name="3 Imagen 1" descr=""/>
          <p:cNvPicPr/>
          <p:nvPr/>
        </p:nvPicPr>
        <p:blipFill>
          <a:blip r:embed="rId1"/>
          <a:stretch/>
        </p:blipFill>
        <p:spPr>
          <a:xfrm>
            <a:off x="467640" y="362880"/>
            <a:ext cx="863280" cy="849960"/>
          </a:xfrm>
          <a:prstGeom prst="rect">
            <a:avLst/>
          </a:prstGeom>
          <a:ln w="0">
            <a:noFill/>
          </a:ln>
        </p:spPr>
      </p:pic>
      <p:sp>
        <p:nvSpPr>
          <p:cNvPr id="100" name="CuadroTexto 4"/>
          <p:cNvSpPr/>
          <p:nvPr/>
        </p:nvSpPr>
        <p:spPr>
          <a:xfrm>
            <a:off x="473040" y="2404800"/>
            <a:ext cx="1716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E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Horario Tutorías</a:t>
            </a:r>
            <a:endParaRPr b="0" lang="es-ES" sz="1800" spc="-1" strike="noStrike">
              <a:latin typeface="Arial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1409760" y="3060000"/>
            <a:ext cx="6509880" cy="334656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7531253-EC5B-42F2-9306-386397E00541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604080"/>
          </a:xfrm>
          <a:prstGeom prst="rect">
            <a:avLst/>
          </a:prstGeom>
          <a:solidFill>
            <a:srgbClr val="b7dee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s-ES" sz="3200" spc="-1" strike="noStrike">
                <a:solidFill>
                  <a:srgbClr val="000000"/>
                </a:solidFill>
                <a:latin typeface="Calibri"/>
              </a:rPr>
              <a:t>Contenido</a:t>
            </a:r>
            <a:endParaRPr b="0" lang="es-ES" sz="3200" spc="-1" strike="noStrike">
              <a:latin typeface="Arial"/>
            </a:endParaRPr>
          </a:p>
        </p:txBody>
      </p:sp>
      <p:pic>
        <p:nvPicPr>
          <p:cNvPr id="103" name="3 Imagen" descr=""/>
          <p:cNvPicPr/>
          <p:nvPr/>
        </p:nvPicPr>
        <p:blipFill>
          <a:blip r:embed="rId1"/>
          <a:stretch/>
        </p:blipFill>
        <p:spPr>
          <a:xfrm>
            <a:off x="467640" y="411480"/>
            <a:ext cx="863280" cy="849960"/>
          </a:xfrm>
          <a:prstGeom prst="rect">
            <a:avLst/>
          </a:prstGeom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title"/>
          </p:nvPr>
        </p:nvSpPr>
        <p:spPr>
          <a:xfrm>
            <a:off x="1619640" y="274680"/>
            <a:ext cx="706644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s-ES" sz="4000" spc="-1" strike="noStrike">
                <a:solidFill>
                  <a:srgbClr val="000000"/>
                </a:solidFill>
                <a:latin typeface="Calibri"/>
              </a:rPr>
              <a:t>Fundamentos de Programación</a:t>
            </a:r>
            <a:br>
              <a:rPr sz="4000"/>
            </a:br>
            <a:r>
              <a:rPr b="0" lang="es-ES" sz="2700" spc="-1" strike="noStrike">
                <a:solidFill>
                  <a:srgbClr val="000000"/>
                </a:solidFill>
                <a:latin typeface="Calibri"/>
              </a:rPr>
              <a:t>Prácticas de laboratorio</a:t>
            </a:r>
            <a:endParaRPr b="0" lang="es-ES" sz="2700" spc="-1" strike="noStrike">
              <a:latin typeface="Arial"/>
            </a:endParaRPr>
          </a:p>
        </p:txBody>
      </p:sp>
      <p:sp>
        <p:nvSpPr>
          <p:cNvPr id="105" name="35 CuadroTexto"/>
          <p:cNvSpPr/>
          <p:nvPr/>
        </p:nvSpPr>
        <p:spPr>
          <a:xfrm>
            <a:off x="467640" y="2421000"/>
            <a:ext cx="8208360" cy="16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Proyectos</a:t>
            </a:r>
            <a:endParaRPr b="0" lang="es-ES" sz="2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Forma de trabajo</a:t>
            </a:r>
            <a:endParaRPr b="0" lang="es-ES" sz="2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Nuestro primer proyecto</a:t>
            </a:r>
            <a:endParaRPr b="0" lang="es-E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604080"/>
          </a:xfrm>
          <a:prstGeom prst="rect">
            <a:avLst/>
          </a:prstGeom>
          <a:solidFill>
            <a:srgbClr val="b7dee8"/>
          </a:solidFill>
          <a:ln w="0">
            <a:noFill/>
          </a:ln>
        </p:spPr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s-ES" sz="3200" spc="-1" strike="noStrike">
                <a:solidFill>
                  <a:srgbClr val="000000"/>
                </a:solidFill>
                <a:latin typeface="Calibri"/>
              </a:rPr>
              <a:t>Proyectos</a:t>
            </a:r>
            <a:endParaRPr b="0" lang="es-ES" sz="3200" spc="-1" strike="noStrike">
              <a:latin typeface="Arial"/>
            </a:endParaRPr>
          </a:p>
        </p:txBody>
      </p:sp>
      <p:pic>
        <p:nvPicPr>
          <p:cNvPr id="107" name="3 Imagen" descr=""/>
          <p:cNvPicPr/>
          <p:nvPr/>
        </p:nvPicPr>
        <p:blipFill>
          <a:blip r:embed="rId1"/>
          <a:stretch/>
        </p:blipFill>
        <p:spPr>
          <a:xfrm>
            <a:off x="467640" y="411480"/>
            <a:ext cx="863280" cy="849960"/>
          </a:xfrm>
          <a:prstGeom prst="rect">
            <a:avLst/>
          </a:prstGeom>
          <a:ln w="0">
            <a:noFill/>
          </a:ln>
        </p:spPr>
      </p:pic>
      <p:sp>
        <p:nvSpPr>
          <p:cNvPr id="108" name="PlaceHolder 2"/>
          <p:cNvSpPr>
            <a:spLocks noGrp="1"/>
          </p:cNvSpPr>
          <p:nvPr>
            <p:ph type="title"/>
          </p:nvPr>
        </p:nvSpPr>
        <p:spPr>
          <a:xfrm>
            <a:off x="1619640" y="274680"/>
            <a:ext cx="706644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s-ES" sz="4000" spc="-1" strike="noStrike">
                <a:solidFill>
                  <a:srgbClr val="000000"/>
                </a:solidFill>
                <a:latin typeface="Calibri"/>
              </a:rPr>
              <a:t>Fundamentos de Programación</a:t>
            </a:r>
            <a:br>
              <a:rPr sz="4000"/>
            </a:br>
            <a:r>
              <a:rPr b="0" lang="es-ES" sz="2700" spc="-1" strike="noStrike">
                <a:solidFill>
                  <a:srgbClr val="000000"/>
                </a:solidFill>
                <a:latin typeface="Calibri"/>
              </a:rPr>
              <a:t>Prácticas de laboratorio</a:t>
            </a:r>
            <a:endParaRPr b="0" lang="es-ES" sz="2700" spc="-1" strike="noStrike">
              <a:latin typeface="Arial"/>
            </a:endParaRPr>
          </a:p>
        </p:txBody>
      </p:sp>
      <p:pic>
        <p:nvPicPr>
          <p:cNvPr id="109" name="Imagen 5" descr="Imagen que contiene colorido, diferente, decorado, florero&#10;&#10;Descripción generada automáticamente"/>
          <p:cNvPicPr/>
          <p:nvPr/>
        </p:nvPicPr>
        <p:blipFill>
          <a:blip r:embed="rId2"/>
          <a:stretch/>
        </p:blipFill>
        <p:spPr>
          <a:xfrm>
            <a:off x="869400" y="2387520"/>
            <a:ext cx="2409120" cy="2409120"/>
          </a:xfrm>
          <a:prstGeom prst="rect">
            <a:avLst/>
          </a:prstGeom>
          <a:ln w="0">
            <a:noFill/>
          </a:ln>
        </p:spPr>
      </p:pic>
      <p:sp>
        <p:nvSpPr>
          <p:cNvPr id="110" name="CuadroTexto 6"/>
          <p:cNvSpPr/>
          <p:nvPr/>
        </p:nvSpPr>
        <p:spPr>
          <a:xfrm>
            <a:off x="3006000" y="2387520"/>
            <a:ext cx="15872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262626"/>
                </a:solidFill>
                <a:latin typeface="Calibri"/>
                <a:ea typeface="DejaVu Sans"/>
              </a:rPr>
              <a:t>Población</a:t>
            </a:r>
            <a:endParaRPr b="0" lang="es-ES" sz="2800" spc="-1" strike="noStrike">
              <a:latin typeface="Arial"/>
            </a:endParaRPr>
          </a:p>
        </p:txBody>
      </p:sp>
      <p:pic>
        <p:nvPicPr>
          <p:cNvPr id="111" name="Imagen 8" descr="Logotipo, nombre de la empresa&#10;&#10;Descripción generada automáticamente"/>
          <p:cNvPicPr/>
          <p:nvPr/>
        </p:nvPicPr>
        <p:blipFill>
          <a:blip r:embed="rId3"/>
          <a:srcRect l="12199" t="19975" r="10224" b="21944"/>
          <a:stretch/>
        </p:blipFill>
        <p:spPr>
          <a:xfrm>
            <a:off x="5220000" y="2421360"/>
            <a:ext cx="3673440" cy="2062080"/>
          </a:xfrm>
          <a:prstGeom prst="rect">
            <a:avLst/>
          </a:prstGeom>
          <a:ln w="0">
            <a:noFill/>
          </a:ln>
        </p:spPr>
      </p:pic>
      <p:sp>
        <p:nvSpPr>
          <p:cNvPr id="112" name="CuadroTexto 9"/>
          <p:cNvSpPr/>
          <p:nvPr/>
        </p:nvSpPr>
        <p:spPr>
          <a:xfrm>
            <a:off x="4257000" y="3798000"/>
            <a:ext cx="15004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262626"/>
                </a:solidFill>
                <a:latin typeface="Calibri"/>
                <a:ea typeface="DejaVu Sans"/>
              </a:rPr>
              <a:t>Nombres</a:t>
            </a:r>
            <a:endParaRPr b="0" lang="es-ES" sz="2800" spc="-1" strike="noStrike">
              <a:latin typeface="Arial"/>
            </a:endParaRPr>
          </a:p>
        </p:txBody>
      </p:sp>
      <p:pic>
        <p:nvPicPr>
          <p:cNvPr id="113" name="Picture 2" descr="Día Internacional de los Monumentos y Sitios: El Patrimonio de la Humanidad  con sello español"/>
          <p:cNvPicPr/>
          <p:nvPr/>
        </p:nvPicPr>
        <p:blipFill>
          <a:blip r:embed="rId4"/>
          <a:stretch/>
        </p:blipFill>
        <p:spPr>
          <a:xfrm>
            <a:off x="2918160" y="5013720"/>
            <a:ext cx="2861640" cy="1604520"/>
          </a:xfrm>
          <a:prstGeom prst="rect">
            <a:avLst/>
          </a:prstGeom>
          <a:ln w="0">
            <a:noFill/>
          </a:ln>
        </p:spPr>
      </p:pic>
      <p:sp>
        <p:nvSpPr>
          <p:cNvPr id="114" name="CuadroTexto 11"/>
          <p:cNvSpPr/>
          <p:nvPr/>
        </p:nvSpPr>
        <p:spPr>
          <a:xfrm>
            <a:off x="5859720" y="5554800"/>
            <a:ext cx="17701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262626"/>
                </a:solidFill>
                <a:latin typeface="Calibri"/>
                <a:ea typeface="DejaVu Sans"/>
              </a:rPr>
              <a:t>Patrimonio</a:t>
            </a:r>
            <a:endParaRPr b="0" lang="es-E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604080"/>
          </a:xfrm>
          <a:prstGeom prst="rect">
            <a:avLst/>
          </a:prstGeom>
          <a:solidFill>
            <a:srgbClr val="b7dee8"/>
          </a:solidFill>
          <a:ln w="0">
            <a:noFill/>
          </a:ln>
        </p:spPr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s-ES" sz="3200" spc="-1" strike="noStrike">
                <a:solidFill>
                  <a:srgbClr val="000000"/>
                </a:solidFill>
                <a:latin typeface="Calibri"/>
              </a:rPr>
              <a:t>Proyectos</a:t>
            </a:r>
            <a:endParaRPr b="0" lang="es-ES" sz="3200" spc="-1" strike="noStrike">
              <a:latin typeface="Arial"/>
            </a:endParaRPr>
          </a:p>
        </p:txBody>
      </p:sp>
      <p:pic>
        <p:nvPicPr>
          <p:cNvPr id="116" name="3 Imagen" descr=""/>
          <p:cNvPicPr/>
          <p:nvPr/>
        </p:nvPicPr>
        <p:blipFill>
          <a:blip r:embed="rId1"/>
          <a:stretch/>
        </p:blipFill>
        <p:spPr>
          <a:xfrm>
            <a:off x="467640" y="411480"/>
            <a:ext cx="863280" cy="849960"/>
          </a:xfrm>
          <a:prstGeom prst="rect">
            <a:avLst/>
          </a:prstGeom>
          <a:ln w="0">
            <a:noFill/>
          </a:ln>
        </p:spPr>
      </p:pic>
      <p:sp>
        <p:nvSpPr>
          <p:cNvPr id="117" name="PlaceHolder 2"/>
          <p:cNvSpPr>
            <a:spLocks noGrp="1"/>
          </p:cNvSpPr>
          <p:nvPr>
            <p:ph type="title"/>
          </p:nvPr>
        </p:nvSpPr>
        <p:spPr>
          <a:xfrm>
            <a:off x="1619640" y="274680"/>
            <a:ext cx="706644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Calibri"/>
              </a:rPr>
              <a:t>Fundamentos de Programación</a:t>
            </a:r>
            <a:br>
              <a:rPr sz="4000"/>
            </a:br>
            <a:r>
              <a:rPr b="0" lang="es-ES" sz="3000" spc="-1" strike="noStrike">
                <a:solidFill>
                  <a:srgbClr val="000000"/>
                </a:solidFill>
                <a:latin typeface="Calibri"/>
              </a:rPr>
              <a:t>Prácticas de laboratorio</a:t>
            </a:r>
            <a:endParaRPr b="0" lang="es-ES" sz="3000" spc="-1" strike="noStrike">
              <a:latin typeface="Arial"/>
            </a:endParaRPr>
          </a:p>
        </p:txBody>
      </p:sp>
      <p:sp>
        <p:nvSpPr>
          <p:cNvPr id="118" name="Rectángulo 1"/>
          <p:cNvSpPr/>
          <p:nvPr/>
        </p:nvSpPr>
        <p:spPr>
          <a:xfrm>
            <a:off x="971640" y="3213000"/>
            <a:ext cx="1655640" cy="935280"/>
          </a:xfrm>
          <a:prstGeom prst="rect">
            <a:avLst/>
          </a:prstGeom>
          <a:noFill/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Leer datos</a:t>
            </a:r>
            <a:endParaRPr b="0" lang="es-ES" sz="1800" spc="-1" strike="noStrike">
              <a:latin typeface="Arial"/>
            </a:endParaRPr>
          </a:p>
        </p:txBody>
      </p:sp>
      <p:sp>
        <p:nvSpPr>
          <p:cNvPr id="119" name="Rectángulo 6"/>
          <p:cNvSpPr/>
          <p:nvPr/>
        </p:nvSpPr>
        <p:spPr>
          <a:xfrm>
            <a:off x="3636000" y="3213000"/>
            <a:ext cx="1655640" cy="935280"/>
          </a:xfrm>
          <a:prstGeom prst="rect">
            <a:avLst/>
          </a:prstGeom>
          <a:noFill/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Procesar datos</a:t>
            </a:r>
            <a:endParaRPr b="0" lang="es-ES" sz="1800" spc="-1" strike="noStrike">
              <a:latin typeface="Arial"/>
            </a:endParaRPr>
          </a:p>
        </p:txBody>
      </p:sp>
      <p:sp>
        <p:nvSpPr>
          <p:cNvPr id="120" name="Rectángulo 8"/>
          <p:cNvSpPr/>
          <p:nvPr/>
        </p:nvSpPr>
        <p:spPr>
          <a:xfrm>
            <a:off x="6300360" y="3213000"/>
            <a:ext cx="1655640" cy="935280"/>
          </a:xfrm>
          <a:prstGeom prst="rect">
            <a:avLst/>
          </a:prstGeom>
          <a:noFill/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Visualizar resultados</a:t>
            </a:r>
            <a:endParaRPr b="0" lang="es-ES" sz="1800" spc="-1" strike="noStrike">
              <a:latin typeface="Arial"/>
            </a:endParaRPr>
          </a:p>
        </p:txBody>
      </p:sp>
      <p:sp>
        <p:nvSpPr>
          <p:cNvPr id="121" name="Conector recto de flecha 5"/>
          <p:cNvSpPr/>
          <p:nvPr/>
        </p:nvSpPr>
        <p:spPr>
          <a:xfrm>
            <a:off x="2627640" y="3681000"/>
            <a:ext cx="10072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4a7ebb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2" name="Conector recto de flecha 10"/>
          <p:cNvSpPr/>
          <p:nvPr/>
        </p:nvSpPr>
        <p:spPr>
          <a:xfrm>
            <a:off x="5292000" y="3681000"/>
            <a:ext cx="10072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4a7ebb"/>
            </a:solidFill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23" name="Imagen 21" descr="Imagen que contiene Forma&#10;&#10;Descripción generada automáticamente"/>
          <p:cNvPicPr/>
          <p:nvPr/>
        </p:nvPicPr>
        <p:blipFill>
          <a:blip r:embed="rId2"/>
          <a:stretch/>
        </p:blipFill>
        <p:spPr>
          <a:xfrm>
            <a:off x="3960000" y="4357800"/>
            <a:ext cx="1007280" cy="1007280"/>
          </a:xfrm>
          <a:prstGeom prst="rect">
            <a:avLst/>
          </a:prstGeom>
          <a:ln w="0">
            <a:noFill/>
          </a:ln>
        </p:spPr>
      </p:pic>
      <p:pic>
        <p:nvPicPr>
          <p:cNvPr id="124" name="Imagen 23" descr="Icono&#10;&#10;Descripción generada automáticamente"/>
          <p:cNvPicPr/>
          <p:nvPr/>
        </p:nvPicPr>
        <p:blipFill>
          <a:blip r:embed="rId3"/>
          <a:stretch/>
        </p:blipFill>
        <p:spPr>
          <a:xfrm>
            <a:off x="6704640" y="4358880"/>
            <a:ext cx="1007280" cy="1007280"/>
          </a:xfrm>
          <a:prstGeom prst="rect">
            <a:avLst/>
          </a:prstGeom>
          <a:ln w="0">
            <a:noFill/>
          </a:ln>
        </p:spPr>
      </p:pic>
      <p:pic>
        <p:nvPicPr>
          <p:cNvPr id="125" name="Imagen 25" descr="Imagen que contiene Forma&#10;&#10;Descripción generada automáticamente"/>
          <p:cNvPicPr/>
          <p:nvPr/>
        </p:nvPicPr>
        <p:blipFill>
          <a:blip r:embed="rId4"/>
          <a:stretch/>
        </p:blipFill>
        <p:spPr>
          <a:xfrm>
            <a:off x="1375920" y="4438080"/>
            <a:ext cx="847080" cy="847080"/>
          </a:xfrm>
          <a:prstGeom prst="rect">
            <a:avLst/>
          </a:prstGeom>
          <a:ln w="0">
            <a:noFill/>
          </a:ln>
        </p:spPr>
      </p:pic>
      <p:sp>
        <p:nvSpPr>
          <p:cNvPr id="126" name="CuadroTexto 26"/>
          <p:cNvSpPr/>
          <p:nvPr/>
        </p:nvSpPr>
        <p:spPr>
          <a:xfrm>
            <a:off x="3456000" y="5554440"/>
            <a:ext cx="20156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Filtrar, transformar, ordenar, agrupar, calcular máximo…</a:t>
            </a:r>
            <a:endParaRPr b="0" lang="es-ES" sz="1800" spc="-1" strike="noStrike">
              <a:latin typeface="Arial"/>
            </a:endParaRPr>
          </a:p>
        </p:txBody>
      </p:sp>
      <p:sp>
        <p:nvSpPr>
          <p:cNvPr id="127" name="CuadroTexto 27"/>
          <p:cNvSpPr/>
          <p:nvPr/>
        </p:nvSpPr>
        <p:spPr>
          <a:xfrm>
            <a:off x="1079640" y="5692680"/>
            <a:ext cx="1439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Dataset en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formato CSV</a:t>
            </a:r>
            <a:endParaRPr b="0" lang="es-ES" sz="1800" spc="-1" strike="noStrike">
              <a:latin typeface="Arial"/>
            </a:endParaRPr>
          </a:p>
        </p:txBody>
      </p:sp>
      <p:sp>
        <p:nvSpPr>
          <p:cNvPr id="128" name="CuadroTexto 28"/>
          <p:cNvSpPr/>
          <p:nvPr/>
        </p:nvSpPr>
        <p:spPr>
          <a:xfrm>
            <a:off x="6408360" y="5692680"/>
            <a:ext cx="1823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Biblioteca gráfica matplotlib</a:t>
            </a:r>
            <a:endParaRPr b="0" lang="es-E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604080"/>
          </a:xfrm>
          <a:prstGeom prst="rect">
            <a:avLst/>
          </a:prstGeom>
          <a:solidFill>
            <a:srgbClr val="b7dee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s-ES" sz="3200" spc="-1" strike="noStrike">
                <a:solidFill>
                  <a:srgbClr val="000000"/>
                </a:solidFill>
                <a:latin typeface="Calibri"/>
              </a:rPr>
              <a:t>Proyectos</a:t>
            </a:r>
            <a:endParaRPr b="0" lang="es-ES" sz="3200" spc="-1" strike="noStrike">
              <a:latin typeface="Arial"/>
            </a:endParaRPr>
          </a:p>
        </p:txBody>
      </p:sp>
      <p:pic>
        <p:nvPicPr>
          <p:cNvPr id="130" name="3 Imagen" descr=""/>
          <p:cNvPicPr/>
          <p:nvPr/>
        </p:nvPicPr>
        <p:blipFill>
          <a:blip r:embed="rId1"/>
          <a:stretch/>
        </p:blipFill>
        <p:spPr>
          <a:xfrm>
            <a:off x="467640" y="411480"/>
            <a:ext cx="863280" cy="849960"/>
          </a:xfrm>
          <a:prstGeom prst="rect">
            <a:avLst/>
          </a:prstGeom>
          <a:ln w="0">
            <a:noFill/>
          </a:ln>
        </p:spPr>
      </p:pic>
      <p:sp>
        <p:nvSpPr>
          <p:cNvPr id="131" name="PlaceHolder 2"/>
          <p:cNvSpPr>
            <a:spLocks noGrp="1"/>
          </p:cNvSpPr>
          <p:nvPr>
            <p:ph type="title"/>
          </p:nvPr>
        </p:nvSpPr>
        <p:spPr>
          <a:xfrm>
            <a:off x="1619640" y="274680"/>
            <a:ext cx="706644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s-ES" sz="4000" spc="-1" strike="noStrike">
                <a:solidFill>
                  <a:srgbClr val="000000"/>
                </a:solidFill>
                <a:latin typeface="Calibri"/>
              </a:rPr>
              <a:t>Fundamentos de Programación</a:t>
            </a:r>
            <a:br>
              <a:rPr sz="4000"/>
            </a:br>
            <a:r>
              <a:rPr b="0" lang="es-ES" sz="2700" spc="-1" strike="noStrike">
                <a:solidFill>
                  <a:srgbClr val="000000"/>
                </a:solidFill>
                <a:latin typeface="Calibri"/>
              </a:rPr>
              <a:t>Prácticas de laboratorio</a:t>
            </a:r>
            <a:endParaRPr b="0" lang="es-ES" sz="2700" spc="-1" strike="noStrike">
              <a:latin typeface="Arial"/>
            </a:endParaRPr>
          </a:p>
        </p:txBody>
      </p:sp>
      <p:sp>
        <p:nvSpPr>
          <p:cNvPr id="132" name="35 CuadroTexto"/>
          <p:cNvSpPr/>
          <p:nvPr/>
        </p:nvSpPr>
        <p:spPr>
          <a:xfrm>
            <a:off x="467640" y="2421000"/>
            <a:ext cx="8208360" cy="264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Trabajo individual asistido por el profesor</a:t>
            </a:r>
            <a:endParaRPr b="0" lang="es-ES" sz="2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Metodología de trabajo: para cada función,</a:t>
            </a:r>
            <a:endParaRPr b="0" lang="es-ES" sz="2800" spc="-1" strike="noStrike">
              <a:latin typeface="Arial"/>
            </a:endParaRPr>
          </a:p>
          <a:p>
            <a:pPr lvl="1" marL="971640" indent="-514440">
              <a:lnSpc>
                <a:spcPct val="100000"/>
              </a:lnSpc>
              <a:spcAft>
                <a:spcPts val="1199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Leer y entender el objetivo de la función</a:t>
            </a:r>
            <a:endParaRPr b="0" lang="es-ES" sz="2400" spc="-1" strike="noStrike">
              <a:latin typeface="Arial"/>
            </a:endParaRPr>
          </a:p>
          <a:p>
            <a:pPr lvl="1" marL="971640" indent="-514440">
              <a:lnSpc>
                <a:spcPct val="100000"/>
              </a:lnSpc>
              <a:spcAft>
                <a:spcPts val="1199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Escribir el código de la función</a:t>
            </a:r>
            <a:endParaRPr b="0" lang="es-ES" sz="2400" spc="-1" strike="noStrike">
              <a:latin typeface="Arial"/>
            </a:endParaRPr>
          </a:p>
          <a:p>
            <a:pPr lvl="1" marL="971640" indent="-514440">
              <a:lnSpc>
                <a:spcPct val="100000"/>
              </a:lnSpc>
              <a:spcAft>
                <a:spcPts val="1199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Ejecutar test y corregir errores si procede</a:t>
            </a:r>
            <a:endParaRPr b="0" lang="es-E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604080"/>
          </a:xfrm>
          <a:prstGeom prst="rect">
            <a:avLst/>
          </a:prstGeom>
          <a:solidFill>
            <a:srgbClr val="b7dee8"/>
          </a:solidFill>
          <a:ln w="0">
            <a:noFill/>
          </a:ln>
        </p:spPr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s-ES" sz="3200" spc="-1" strike="noStrike">
                <a:solidFill>
                  <a:srgbClr val="000000"/>
                </a:solidFill>
                <a:latin typeface="Calibri"/>
              </a:rPr>
              <a:t>Forma de trabajo </a:t>
            </a:r>
            <a:endParaRPr b="0" lang="es-E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s-E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s-ES" sz="3200" spc="-1" strike="noStrike">
              <a:latin typeface="Arial"/>
            </a:endParaRPr>
          </a:p>
        </p:txBody>
      </p:sp>
      <p:pic>
        <p:nvPicPr>
          <p:cNvPr id="134" name="3 Imagen" descr=""/>
          <p:cNvPicPr/>
          <p:nvPr/>
        </p:nvPicPr>
        <p:blipFill>
          <a:blip r:embed="rId1"/>
          <a:stretch/>
        </p:blipFill>
        <p:spPr>
          <a:xfrm>
            <a:off x="467640" y="411480"/>
            <a:ext cx="863280" cy="849960"/>
          </a:xfrm>
          <a:prstGeom prst="rect">
            <a:avLst/>
          </a:prstGeom>
          <a:ln w="0">
            <a:noFill/>
          </a:ln>
        </p:spPr>
      </p:pic>
      <p:sp>
        <p:nvSpPr>
          <p:cNvPr id="135" name="PlaceHolder 2"/>
          <p:cNvSpPr>
            <a:spLocks noGrp="1"/>
          </p:cNvSpPr>
          <p:nvPr>
            <p:ph type="title"/>
          </p:nvPr>
        </p:nvSpPr>
        <p:spPr>
          <a:xfrm>
            <a:off x="1619640" y="274680"/>
            <a:ext cx="706644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s-ES" sz="4000" spc="-1" strike="noStrike">
                <a:solidFill>
                  <a:srgbClr val="000000"/>
                </a:solidFill>
                <a:latin typeface="Calibri"/>
              </a:rPr>
              <a:t>Fundamentos de Programación</a:t>
            </a:r>
            <a:br>
              <a:rPr sz="4000"/>
            </a:br>
            <a:r>
              <a:rPr b="0" lang="es-ES" sz="2700" spc="-1" strike="noStrike">
                <a:solidFill>
                  <a:srgbClr val="000000"/>
                </a:solidFill>
                <a:latin typeface="Calibri"/>
              </a:rPr>
              <a:t>Prácticas de laboratorio</a:t>
            </a:r>
            <a:endParaRPr b="0" lang="es-ES" sz="2700" spc="-1" strike="noStrike">
              <a:latin typeface="Arial"/>
            </a:endParaRPr>
          </a:p>
        </p:txBody>
      </p:sp>
      <p:sp>
        <p:nvSpPr>
          <p:cNvPr id="136" name="35 CuadroTexto"/>
          <p:cNvSpPr/>
          <p:nvPr/>
        </p:nvSpPr>
        <p:spPr>
          <a:xfrm>
            <a:off x="467640" y="2421000"/>
            <a:ext cx="82184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Desarrollo en </a:t>
            </a:r>
            <a:r>
              <a:rPr b="1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Visual Studio Code</a:t>
            </a:r>
            <a:endParaRPr b="0" lang="es-ES" sz="2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endParaRPr b="0" lang="es-E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604080"/>
          </a:xfrm>
          <a:prstGeom prst="rect">
            <a:avLst/>
          </a:prstGeom>
          <a:solidFill>
            <a:srgbClr val="b7dee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s-ES" sz="3200" spc="-1" strike="noStrike">
                <a:solidFill>
                  <a:srgbClr val="000000"/>
                </a:solidFill>
                <a:latin typeface="Calibri"/>
              </a:rPr>
              <a:t>Visual Studio Code</a:t>
            </a:r>
            <a:endParaRPr b="0" lang="es-ES" sz="3200" spc="-1" strike="noStrike">
              <a:latin typeface="Arial"/>
            </a:endParaRPr>
          </a:p>
        </p:txBody>
      </p:sp>
      <p:pic>
        <p:nvPicPr>
          <p:cNvPr id="138" name="3 Imagen" descr=""/>
          <p:cNvPicPr/>
          <p:nvPr/>
        </p:nvPicPr>
        <p:blipFill>
          <a:blip r:embed="rId1"/>
          <a:stretch/>
        </p:blipFill>
        <p:spPr>
          <a:xfrm>
            <a:off x="467640" y="411480"/>
            <a:ext cx="863280" cy="849960"/>
          </a:xfrm>
          <a:prstGeom prst="rect">
            <a:avLst/>
          </a:prstGeom>
          <a:ln w="0">
            <a:noFill/>
          </a:ln>
        </p:spPr>
      </p:pic>
      <p:sp>
        <p:nvSpPr>
          <p:cNvPr id="139" name="PlaceHolder 2"/>
          <p:cNvSpPr>
            <a:spLocks noGrp="1"/>
          </p:cNvSpPr>
          <p:nvPr>
            <p:ph type="title"/>
          </p:nvPr>
        </p:nvSpPr>
        <p:spPr>
          <a:xfrm>
            <a:off x="1619640" y="274680"/>
            <a:ext cx="706644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s-ES" sz="4000" spc="-1" strike="noStrike">
                <a:solidFill>
                  <a:srgbClr val="000000"/>
                </a:solidFill>
                <a:latin typeface="Calibri"/>
              </a:rPr>
              <a:t>Fundamentos de Programación</a:t>
            </a:r>
            <a:br>
              <a:rPr sz="4000"/>
            </a:br>
            <a:r>
              <a:rPr b="0" lang="es-ES" sz="2700" spc="-1" strike="noStrike">
                <a:solidFill>
                  <a:srgbClr val="000000"/>
                </a:solidFill>
                <a:latin typeface="Calibri"/>
              </a:rPr>
              <a:t>Prácticas de laboratorio</a:t>
            </a:r>
            <a:endParaRPr b="0" lang="es-ES" sz="2700" spc="-1" strike="noStrike">
              <a:latin typeface="Arial"/>
            </a:endParaRPr>
          </a:p>
        </p:txBody>
      </p:sp>
      <p:sp>
        <p:nvSpPr>
          <p:cNvPr id="140" name="35 CuadroTexto"/>
          <p:cNvSpPr/>
          <p:nvPr/>
        </p:nvSpPr>
        <p:spPr>
          <a:xfrm>
            <a:off x="467640" y="2421000"/>
            <a:ext cx="8280360" cy="39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¿Qué es un IDE? (</a:t>
            </a:r>
            <a:r>
              <a:rPr b="0" i="1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Integrated Development Environment</a:t>
            </a: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b="0" lang="es-ES" sz="2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Interfaz de VSC</a:t>
            </a:r>
            <a:endParaRPr b="0" lang="es-ES" sz="2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Trabajo con VSC</a:t>
            </a:r>
            <a:endParaRPr b="0" lang="es-ES" sz="2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Crear proyecto</a:t>
            </a:r>
            <a:endParaRPr b="0" lang="es-ES" sz="2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Escribir código</a:t>
            </a:r>
            <a:endParaRPr b="0" lang="es-ES" sz="2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Ejecutar proyecto</a:t>
            </a:r>
            <a:endParaRPr b="0" lang="es-ES" sz="2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Depurar proyecto</a:t>
            </a:r>
            <a:endParaRPr b="0" lang="es-E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604080"/>
          </a:xfrm>
          <a:prstGeom prst="rect">
            <a:avLst/>
          </a:prstGeom>
          <a:solidFill>
            <a:srgbClr val="b7dee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s-ES" sz="3200" spc="-1" strike="noStrike">
                <a:solidFill>
                  <a:srgbClr val="000000"/>
                </a:solidFill>
                <a:latin typeface="Calibri"/>
              </a:rPr>
              <a:t>Ejercicio</a:t>
            </a:r>
            <a:endParaRPr b="0" lang="es-ES" sz="3200" spc="-1" strike="noStrike">
              <a:latin typeface="Arial"/>
            </a:endParaRPr>
          </a:p>
        </p:txBody>
      </p:sp>
      <p:pic>
        <p:nvPicPr>
          <p:cNvPr id="142" name="3 Imagen" descr=""/>
          <p:cNvPicPr/>
          <p:nvPr/>
        </p:nvPicPr>
        <p:blipFill>
          <a:blip r:embed="rId1"/>
          <a:stretch/>
        </p:blipFill>
        <p:spPr>
          <a:xfrm>
            <a:off x="467640" y="411480"/>
            <a:ext cx="863280" cy="849960"/>
          </a:xfrm>
          <a:prstGeom prst="rect">
            <a:avLst/>
          </a:prstGeom>
          <a:ln w="0">
            <a:noFill/>
          </a:ln>
        </p:spPr>
      </p:pic>
      <p:sp>
        <p:nvSpPr>
          <p:cNvPr id="143" name="PlaceHolder 2"/>
          <p:cNvSpPr>
            <a:spLocks noGrp="1"/>
          </p:cNvSpPr>
          <p:nvPr>
            <p:ph type="title"/>
          </p:nvPr>
        </p:nvSpPr>
        <p:spPr>
          <a:xfrm>
            <a:off x="1619640" y="274680"/>
            <a:ext cx="706644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s-ES" sz="4000" spc="-1" strike="noStrike">
                <a:solidFill>
                  <a:srgbClr val="000000"/>
                </a:solidFill>
                <a:latin typeface="Calibri"/>
              </a:rPr>
              <a:t>Fundamentos de Programación</a:t>
            </a:r>
            <a:br>
              <a:rPr sz="4000"/>
            </a:br>
            <a:r>
              <a:rPr b="0" lang="es-ES" sz="2700" spc="-1" strike="noStrike">
                <a:solidFill>
                  <a:srgbClr val="000000"/>
                </a:solidFill>
                <a:latin typeface="Calibri"/>
              </a:rPr>
              <a:t>Prácticas de laboratorio</a:t>
            </a:r>
            <a:endParaRPr b="0" lang="es-ES" sz="2700" spc="-1" strike="noStrike">
              <a:latin typeface="Arial"/>
            </a:endParaRPr>
          </a:p>
        </p:txBody>
      </p:sp>
      <p:sp>
        <p:nvSpPr>
          <p:cNvPr id="144" name="35 CuadroTexto"/>
          <p:cNvSpPr/>
          <p:nvPr/>
        </p:nvSpPr>
        <p:spPr>
          <a:xfrm>
            <a:off x="539640" y="2216160"/>
            <a:ext cx="8208360" cy="34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Pasos:</a:t>
            </a:r>
            <a:endParaRPr b="0" lang="es-ES" sz="28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spcAft>
                <a:spcPts val="1199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Acceder al repositorio </a:t>
            </a: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s-ES" sz="28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spcAft>
                <a:spcPts val="1199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Pulsar </a:t>
            </a:r>
            <a:r>
              <a:rPr b="0" i="1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Code </a:t>
            </a: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&gt; </a:t>
            </a:r>
            <a:r>
              <a:rPr b="0" i="1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Download ZIP</a:t>
            </a:r>
            <a:endParaRPr b="0" lang="es-ES" sz="28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spcAft>
                <a:spcPts val="1199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Descomprimir archivo descargado</a:t>
            </a:r>
            <a:endParaRPr b="0" lang="es-ES" sz="28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spcAft>
                <a:spcPts val="1199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Ejecutar VSC y abrir carpeta</a:t>
            </a:r>
            <a:endParaRPr b="0" lang="es-ES" sz="28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spcAft>
                <a:spcPts val="1199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s-E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Seguir las instrucciones del enunciado</a:t>
            </a:r>
            <a:endParaRPr b="0" lang="es-E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5450</TotalTime>
  <Application>LibreOffice/7.3.7.2$Linux_X86_64 LibreOffice_project/30$Build-2</Application>
  <AppVersion>15.0000</AppVersion>
  <Words>247</Words>
  <Paragraphs>56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2013-09-11T11:26:36Z</dcterms:created>
  <dc:creator>mariano</dc:creator>
  <dc:description/>
  <dc:language>es-ES</dc:language>
  <cp:lastModifiedBy/>
  <dcterms:modified xsi:type="dcterms:W3CDTF">2025-09-25T19:03:16Z</dcterms:modified>
  <cp:revision>211</cp:revision>
  <dc:subject/>
  <dc:title>Fundamentos de Programación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Presentación en pantalla (4:3)</vt:lpwstr>
  </property>
  <property fmtid="{D5CDD505-2E9C-101B-9397-08002B2CF9AE}" pid="4" name="Slides">
    <vt:i4>10</vt:i4>
  </property>
</Properties>
</file>